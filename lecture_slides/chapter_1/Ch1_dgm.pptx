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0" r:id="rId4"/>
    <p:sldId id="258" r:id="rId5"/>
    <p:sldId id="259" r:id="rId6"/>
    <p:sldId id="263" r:id="rId7"/>
    <p:sldId id="264" r:id="rId8"/>
    <p:sldId id="265" r:id="rId9"/>
    <p:sldId id="266" r:id="rId10"/>
    <p:sldId id="267" r:id="rId11"/>
    <p:sldId id="273" r:id="rId12"/>
    <p:sldId id="262" r:id="rId13"/>
    <p:sldId id="261" r:id="rId14"/>
    <p:sldId id="275" r:id="rId15"/>
    <p:sldId id="276" r:id="rId16"/>
    <p:sldId id="277" r:id="rId17"/>
    <p:sldId id="278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/>
    <p:restoredTop sz="94678"/>
  </p:normalViewPr>
  <p:slideViewPr>
    <p:cSldViewPr snapToGrid="0">
      <p:cViewPr varScale="1">
        <p:scale>
          <a:sx n="136" d="100"/>
          <a:sy n="136" d="100"/>
        </p:scale>
        <p:origin x="48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3FBA0F-4AC1-1940-9AC1-758B27C80CBE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4D1AB-5C65-F148-BD24-7723804F3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52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4D1AB-5C65-F148-BD24-7723804F3F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88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FA58-438E-287E-3058-CC1A1521D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52229-0954-D242-DC9A-F4510EE24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3258D-D6A8-C4B5-9858-A39777860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7345-7B1A-744C-B905-8CDCFFFC933E}" type="datetime1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0BD84-568C-8234-0672-107B5243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EC435-C175-F49E-CAFC-4584AB92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0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4988-2EAD-593C-816A-F96318E9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9C52-F559-3C5F-6013-94DB74144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6FE87-6AF0-0B9D-2B7B-1BB12E38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F06-C3E2-6948-93CE-A98AC4079CBD}" type="datetime1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E3F84-71EF-D70F-8DC2-9EB90342C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B6F94-6C3D-7018-0177-78EE4A6E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9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F3E8D-2C92-649B-05C2-AAB5CA7F8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2A833-E2AD-1C7A-1F3B-9100576FE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53A76-E0CD-15AE-4FA9-5B3A84910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DD05-31E9-5143-B73F-C3CE270CAE39}" type="datetime1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D5306-AEB3-772E-C898-0428D4822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9FB30-F5EE-157D-78B6-28764D3C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4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5D4E-41B4-3B2F-2A8E-F5021B716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63DC3-74D5-3530-F0F1-CCE10C084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8D8C2-113B-A85A-5526-71874E93C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10E27-14E7-F46B-18B0-8FBE76882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FB4E-FABA-B84E-BBF1-D22618ED4EA2}" type="datetime1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64683-55E9-94A1-0B13-43280493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CDAC8-78BD-1BF7-0D2B-92724D55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5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332A0-BBF2-9D72-5CC9-31FD793F5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13702-5F09-B8E1-F084-AF8136180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39111-BF56-300A-A390-8E87086F3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53BEA-DAF7-FD24-2740-6D53A55CD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78D7EA-3C58-992E-9067-B2632E282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4B5BC2-D488-291D-BF42-569B2978C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8F01E-9FDE-FD44-ABD1-71E802403303}" type="datetime1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2F4933-FB21-E1AD-FAD7-2A71707C4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F1944-B7F0-3F55-B18B-2F1F7535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54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6583-79BE-4CB7-28A7-9B43DCE08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3DF91-410E-D383-F4FF-D955AFC11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78C1C-AE5B-AD4B-84A2-481A1D05448B}" type="datetime1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9A9226-426C-6850-8CBD-D0DC2537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93D6D9-37A3-B3EF-9CC4-BF1687FA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53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E9EB91-0716-AB91-69D7-E14C8953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AA0D-7D53-FD4A-8FDE-F374582C9D40}" type="datetime1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93D2C5-5781-0EE2-5438-8A52B492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8EACD-6E7A-2333-68CA-F181839D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5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80B47-1494-08AD-720A-06D35B356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34025-F7B0-6E23-6B2A-F942A15A1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E2D19-CA51-C55D-CCEC-BC81D2437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2029C-B611-DAED-FA58-3C3B658CF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0E41-0F2E-DD48-AC55-A5AF7B88ACB9}" type="datetime1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BFB00-7842-C09C-CCF2-7C9F37A03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F5BD4-DBC9-7A8D-2194-C7BC256A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65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6D53-C226-6755-21ED-90E0AC6C3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0A01AE-0AE9-4990-2FD6-E6B07BD87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67640-3B77-CDF5-F3B7-9A052B306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28A6C-B7F0-0FB6-C91A-AB2B3C59F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98289-620F-DC45-9556-0A1A6D0EAA89}" type="datetime1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501AC-3890-0DB0-548B-372560637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BCA95-9E1B-9562-83C9-35BC985AB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1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66DA7-95B4-2D84-23F6-7FFBAE9C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997BB-4B3A-7D17-3600-B672F4968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EE5E6-27CA-7A47-0A11-2872183B8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882D7-8636-3A42-B06B-D0F8A45F1ABF}" type="datetime1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AE5B1-530A-3710-DB9D-3B4A1D10A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10405-764F-6D0B-C8FC-4009E2ED0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93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2929E-6E1E-159E-82C0-EA7C99E61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D6550-5A10-082B-C8E6-203033CEB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54D4-F745-B380-C9B0-4EC2A7609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09DE-9C2D-0743-834F-7878D654D8E0}" type="datetime1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7DBA3-2CE8-BA28-1AD6-3FD9F941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E01C4-653C-6EB5-419C-C62675A85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25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B039CD-3FFB-48ED-2400-68B0982B5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648D9-52D9-B3ED-CB00-7B5B493DC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B6668-E54C-F68F-9766-13A2AB4B2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460539-221E-6544-8665-6E6E17C50B7C}" type="datetime1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6B0BE-7627-E5CB-EE16-871AF2DAF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9DE7B-923F-BD94-FA92-18D1A8F6B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F2D52A-1A5E-204B-A157-1ED9437F8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35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FA393-8314-D1D3-9711-6FBA42974F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Ch1: Deep Generative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0EEA4-D3FF-F9C1-FBDE-3B9DEBA871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 Oualid Missaoui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D0E94-91C7-FD60-B24A-E199258A8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10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2FCC0-BBEF-AD13-FF7D-9938922C3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D32F1-0447-1CE2-E8A2-4D15B7412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Mathematical Setup</a:t>
            </a:r>
          </a:p>
          <a:p>
            <a:r>
              <a:rPr lang="en-US" dirty="0"/>
              <a:t>Training</a:t>
            </a:r>
          </a:p>
          <a:p>
            <a:pPr lvl="1"/>
            <a:r>
              <a:rPr lang="en-US" dirty="0"/>
              <a:t>Forward KL</a:t>
            </a:r>
          </a:p>
          <a:p>
            <a:pPr lvl="1"/>
            <a:r>
              <a:rPr lang="en-US" dirty="0"/>
              <a:t>Beyond KL</a:t>
            </a:r>
          </a:p>
          <a:p>
            <a:r>
              <a:rPr lang="en-US" dirty="0"/>
              <a:t>Prominent DGMs</a:t>
            </a:r>
          </a:p>
          <a:p>
            <a:pPr lvl="1"/>
            <a:r>
              <a:rPr lang="en-US" dirty="0"/>
              <a:t>Energy-Based Models (EBMs)</a:t>
            </a:r>
          </a:p>
          <a:p>
            <a:pPr lvl="1"/>
            <a:r>
              <a:rPr lang="en-US" dirty="0"/>
              <a:t>Autoregressive Models</a:t>
            </a:r>
          </a:p>
          <a:p>
            <a:pPr lvl="1"/>
            <a:r>
              <a:rPr lang="en-US" dirty="0"/>
              <a:t>Variational Autoencoders (VAEs)</a:t>
            </a:r>
          </a:p>
          <a:p>
            <a:pPr lvl="1"/>
            <a:r>
              <a:rPr lang="en-US" dirty="0"/>
              <a:t>Normalizing Flows</a:t>
            </a:r>
          </a:p>
          <a:p>
            <a:pPr lvl="1"/>
            <a:r>
              <a:rPr lang="en-US" dirty="0"/>
              <a:t>GANs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6C818-B549-F885-E37B-8ED3C63B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449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ECB00-0967-C141-8E37-6B3749802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91779"/>
          </a:xfrm>
        </p:spPr>
        <p:txBody>
          <a:bodyPr>
            <a:normAutofit fontScale="90000"/>
          </a:bodyPr>
          <a:lstStyle/>
          <a:p>
            <a:r>
              <a:rPr lang="en-US" dirty="0"/>
              <a:t>Mathematical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6292ED-43E7-78FD-7427-3E1A162E7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168" y="1758263"/>
            <a:ext cx="1257300" cy="584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892940-808F-184D-A7BF-8AFE9BFA2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049" y="1976977"/>
            <a:ext cx="1016000" cy="571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E600A9-1F90-6E3E-ABA5-0EC060E6A64E}"/>
              </a:ext>
            </a:extLst>
          </p:cNvPr>
          <p:cNvSpPr txBox="1"/>
          <p:nvPr/>
        </p:nvSpPr>
        <p:spPr>
          <a:xfrm>
            <a:off x="451263" y="754443"/>
            <a:ext cx="2763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 true distribution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99E697-73F1-3402-22D2-597D3A6921E9}"/>
              </a:ext>
            </a:extLst>
          </p:cNvPr>
          <p:cNvSpPr txBox="1"/>
          <p:nvPr/>
        </p:nvSpPr>
        <p:spPr>
          <a:xfrm>
            <a:off x="451263" y="1202420"/>
            <a:ext cx="3841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cannot draw new samples from it</a:t>
            </a:r>
          </a:p>
          <a:p>
            <a:r>
              <a:rPr lang="en-US" dirty="0"/>
              <a:t>directly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F8D2BC-9801-7438-4D04-C3183F77E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938" y="2041340"/>
            <a:ext cx="482600" cy="5207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0E93E6-229C-D116-5042-7E1572792298}"/>
              </a:ext>
            </a:extLst>
          </p:cNvPr>
          <p:cNvSpPr txBox="1"/>
          <p:nvPr/>
        </p:nvSpPr>
        <p:spPr>
          <a:xfrm>
            <a:off x="8831107" y="1976977"/>
            <a:ext cx="2530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network’s trainable </a:t>
            </a:r>
          </a:p>
          <a:p>
            <a:r>
              <a:rPr lang="en-US" dirty="0"/>
              <a:t>parameters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6C1304-48F3-9DF5-43F4-36BD43DD97CD}"/>
              </a:ext>
            </a:extLst>
          </p:cNvPr>
          <p:cNvSpPr txBox="1"/>
          <p:nvPr/>
        </p:nvSpPr>
        <p:spPr>
          <a:xfrm>
            <a:off x="7012049" y="861582"/>
            <a:ext cx="2041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distribution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FE903CC-2D06-C284-5A3D-A37B31126947}"/>
              </a:ext>
            </a:extLst>
          </p:cNvPr>
          <p:cNvGrpSpPr/>
          <p:nvPr/>
        </p:nvGrpSpPr>
        <p:grpSpPr>
          <a:xfrm>
            <a:off x="2602514" y="3497032"/>
            <a:ext cx="6450735" cy="762000"/>
            <a:chOff x="2602514" y="3294540"/>
            <a:chExt cx="6450735" cy="762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688CE4C-732A-AE0D-83E4-7A4335C6E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57649" y="3294540"/>
              <a:ext cx="2895600" cy="762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CB8341E-F507-BD51-E023-3CAA914B1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88753" y="3376011"/>
              <a:ext cx="546100" cy="6223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F94CDC-97F0-1E9A-3C6A-C251EFD915A0}"/>
                </a:ext>
              </a:extLst>
            </p:cNvPr>
            <p:cNvSpPr txBox="1"/>
            <p:nvPr/>
          </p:nvSpPr>
          <p:spPr>
            <a:xfrm>
              <a:off x="2602514" y="3502495"/>
              <a:ext cx="6140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Find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FFA103F-1A6D-56DB-2522-EB9A64EF6E4C}"/>
                </a:ext>
              </a:extLst>
            </p:cNvPr>
            <p:cNvSpPr txBox="1"/>
            <p:nvPr/>
          </p:nvSpPr>
          <p:spPr>
            <a:xfrm>
              <a:off x="4520355" y="3570183"/>
              <a:ext cx="14629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that satisfies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63252B4-9614-FED2-760E-84C0B9534E67}"/>
              </a:ext>
            </a:extLst>
          </p:cNvPr>
          <p:cNvSpPr txBox="1"/>
          <p:nvPr/>
        </p:nvSpPr>
        <p:spPr>
          <a:xfrm>
            <a:off x="7168738" y="2776305"/>
            <a:ext cx="1930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Generative Model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02FC8E5-DACE-F108-1301-6A525D8525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92" y="4691028"/>
            <a:ext cx="11476513" cy="183060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A827A3-6017-941E-74B3-347A9144CF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1821" y="2573141"/>
            <a:ext cx="2667000" cy="5969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802DEF5-2816-3099-CF87-417227223522}"/>
              </a:ext>
            </a:extLst>
          </p:cNvPr>
          <p:cNvSpPr/>
          <p:nvPr/>
        </p:nvSpPr>
        <p:spPr>
          <a:xfrm>
            <a:off x="2371821" y="3436342"/>
            <a:ext cx="7030192" cy="993497"/>
          </a:xfrm>
          <a:prstGeom prst="roundRect">
            <a:avLst/>
          </a:prstGeom>
          <a:solidFill>
            <a:schemeClr val="accent1">
              <a:alpha val="2624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E815AA29-C1F0-5737-A937-A67EF0B1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94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0299-71C0-FDCD-8469-481B65945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4"/>
            <a:ext cx="10052755" cy="863600"/>
          </a:xfrm>
        </p:spPr>
        <p:txBody>
          <a:bodyPr/>
          <a:lstStyle/>
          <a:p>
            <a:r>
              <a:rPr lang="en-US" dirty="0"/>
              <a:t>Illustration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7268C-5ADD-FFD1-8F32-B1F3B640A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04E8C8-F1E5-8B09-AF50-22046EDAF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1690688"/>
            <a:ext cx="9266943" cy="473265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30E2F-9214-AC01-44C1-FB029764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004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14EDD-E02E-78F4-9442-982C8612D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22238"/>
            <a:ext cx="10515600" cy="792163"/>
          </a:xfrm>
        </p:spPr>
        <p:txBody>
          <a:bodyPr/>
          <a:lstStyle/>
          <a:p>
            <a:r>
              <a:rPr lang="en-US" dirty="0"/>
              <a:t>Training of DGM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E031C-D7E2-20C4-8B92-0F05117A1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752" y="2490644"/>
            <a:ext cx="4781550" cy="26988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discrepancy can be:</a:t>
            </a:r>
          </a:p>
          <a:p>
            <a:pPr lvl="1"/>
            <a:r>
              <a:rPr lang="en-US" dirty="0"/>
              <a:t>Forward KL and Maximum Likelihood Estimation (MLE)</a:t>
            </a:r>
          </a:p>
          <a:p>
            <a:pPr lvl="1"/>
            <a:r>
              <a:rPr lang="en-US" dirty="0"/>
              <a:t>Fisher Divergence</a:t>
            </a:r>
          </a:p>
          <a:p>
            <a:pPr lvl="1"/>
            <a:r>
              <a:rPr lang="en-US" dirty="0"/>
              <a:t>Beyond KL: f-divergences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C19590-3361-00B3-D10C-CEB6C3B5F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69" y="1049337"/>
            <a:ext cx="5614131" cy="53086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0315C-CA35-60F4-904A-B168ACDE6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984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A195-68D5-09EB-8F55-B10F95AB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KL and Maximum Likelihood Estimation (MLE)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EFCBB-D873-8048-8BB6-CC7FC2C73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985A58-7D3E-75DF-B246-3E9B34B1A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69011"/>
            <a:ext cx="6540500" cy="3175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FEB6A6-01EC-5BEF-C2FA-ECBD6CCEC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868" y="2055255"/>
            <a:ext cx="4584700" cy="3175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9AF33-07F6-1D0B-6A0B-A66404EA1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53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0559C-57EE-B38E-3BAD-B4E0D3EC5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76787"/>
          </a:xfrm>
        </p:spPr>
        <p:txBody>
          <a:bodyPr>
            <a:normAutofit/>
          </a:bodyPr>
          <a:lstStyle/>
          <a:p>
            <a:r>
              <a:rPr lang="en-US" sz="3600" dirty="0"/>
              <a:t>Decomposing the forward KL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F348F-FB9C-B9B2-C36D-EBC30AA9E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D6D016-6313-3FE6-2BC5-9750311A2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439" y="976787"/>
            <a:ext cx="9502611" cy="558870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FB12A-50EE-9F50-5726-298EA81A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752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DE8BF-86BC-0F65-CFD3-D50F77FB6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20" y="77788"/>
            <a:ext cx="10515600" cy="1325563"/>
          </a:xfrm>
        </p:spPr>
        <p:txBody>
          <a:bodyPr/>
          <a:lstStyle/>
          <a:p>
            <a:r>
              <a:rPr lang="en-US" dirty="0"/>
              <a:t>Minimizing KL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5FF6D-B739-9620-6E61-1260FC3EC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A0983-29B9-6A6D-C452-9556EC7C8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20" y="1719263"/>
            <a:ext cx="11565160" cy="477361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DC3CA-FA3C-D080-5ECA-43CA39BF5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15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B9E72-1E01-573B-838E-2C733D6BE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06463"/>
          </a:xfrm>
        </p:spPr>
        <p:txBody>
          <a:bodyPr/>
          <a:lstStyle/>
          <a:p>
            <a:r>
              <a:rPr lang="en-US" dirty="0"/>
              <a:t>Empirical MLE via Monte Carlo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C36C6-E1C2-BE72-CCDC-461278978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BBF23-F1DC-508F-2905-C1B82117E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F41AED-EE7D-6108-F4DD-81116F3EB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743" y="764164"/>
            <a:ext cx="9150857" cy="586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50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38BB9-D9DB-AEFE-B559-696C81712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14331"/>
          </a:xfrm>
        </p:spPr>
        <p:txBody>
          <a:bodyPr>
            <a:normAutofit/>
          </a:bodyPr>
          <a:lstStyle/>
          <a:p>
            <a:r>
              <a:rPr lang="en-US" sz="3200" dirty="0"/>
              <a:t>Fisher Divergence (Score-Based Modeling)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6BE37-ABA0-EAFB-8FF1-48112A4DB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A6963-F121-2323-CC28-B3F7F623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B0C517-3F53-BEDE-BAD7-BF0461687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4" y="681037"/>
            <a:ext cx="11036506" cy="586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94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2D05-D043-B5CB-7581-436322EA3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63031"/>
          </a:xfrm>
        </p:spPr>
        <p:txBody>
          <a:bodyPr/>
          <a:lstStyle/>
          <a:p>
            <a:r>
              <a:rPr lang="en-US" dirty="0"/>
              <a:t>Beyond KL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FC54D-6602-C311-71C5-6427980D6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EF596-A99A-14BA-8704-7D271D955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60047B-22F6-D736-5CAD-CCD729F08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27" y="681037"/>
            <a:ext cx="11653145" cy="604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81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5CE92-D004-822F-92E4-9794981AC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Modeling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8A02F-42DF-B27F-904A-118E0A618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Non-negativity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Normalization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75D85-3767-50F3-2E89-538F46E9B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931" y="2642837"/>
            <a:ext cx="1663700" cy="622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2A7C09-6019-0462-641E-447F9CEE1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136" y="4535715"/>
            <a:ext cx="2400300" cy="66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BE6E4A-A731-DE3B-6586-81829A80C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641" y="2002147"/>
            <a:ext cx="3302000" cy="7874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00E3BF-6656-2AF8-96B5-C0AA20323DB4}"/>
              </a:ext>
            </a:extLst>
          </p:cNvPr>
          <p:cNvCxnSpPr>
            <a:cxnSpLocks/>
          </p:cNvCxnSpPr>
          <p:nvPr/>
        </p:nvCxnSpPr>
        <p:spPr>
          <a:xfrm flipV="1">
            <a:off x="3812967" y="2529444"/>
            <a:ext cx="996539" cy="39782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A2D7748-DAB5-780F-5E08-514808312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001294"/>
            <a:ext cx="5020486" cy="92508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D3576D-82C6-4C75-E947-62168386150A}"/>
              </a:ext>
            </a:extLst>
          </p:cNvPr>
          <p:cNvCxnSpPr>
            <a:cxnSpLocks/>
          </p:cNvCxnSpPr>
          <p:nvPr/>
        </p:nvCxnSpPr>
        <p:spPr>
          <a:xfrm flipV="1">
            <a:off x="4287978" y="4463834"/>
            <a:ext cx="1570708" cy="3711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F0A865C-8D9A-FA4E-0298-7B563F1EE9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1788" y="5155000"/>
            <a:ext cx="3422159" cy="787399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670DD7D-DDB5-E6C5-7158-2433877A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15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60EB-EF10-97BF-9A10-A56D05CB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Prominent DGMs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BF5B0-4305-C8C2-069A-4DC8899F3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Energy-Based Models (EBMs)</a:t>
            </a:r>
          </a:p>
          <a:p>
            <a:r>
              <a:rPr lang="en-US" dirty="0"/>
              <a:t>Autoregressive Models</a:t>
            </a:r>
          </a:p>
          <a:p>
            <a:r>
              <a:rPr lang="en-US" dirty="0"/>
              <a:t>Variational Autoencoders (VAEs)</a:t>
            </a:r>
          </a:p>
          <a:p>
            <a:r>
              <a:rPr lang="en-US" dirty="0"/>
              <a:t>Normalizing Flows</a:t>
            </a:r>
          </a:p>
          <a:p>
            <a:r>
              <a:rPr lang="en-US" dirty="0"/>
              <a:t>GANs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E16D0-C9DB-8B95-E698-955E0FDB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14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78CC3-FA33-58F5-3A5F-86D9D434C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29" y="107655"/>
            <a:ext cx="10515600" cy="923440"/>
          </a:xfrm>
        </p:spPr>
        <p:txBody>
          <a:bodyPr/>
          <a:lstStyle/>
          <a:p>
            <a:r>
              <a:rPr lang="en-US" dirty="0"/>
              <a:t>Energy-Based Models (EBMs)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D1D3B-5DC7-86B5-9AF0-960524B43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E6487-AB4B-6F7F-B635-477C973F1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79D996-FCAF-F6DE-AB7A-FAEFA50C3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29" y="1317982"/>
            <a:ext cx="11676848" cy="503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56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7B5C8-B2C3-466D-8E36-B8BB0A2B5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3" y="136525"/>
            <a:ext cx="10515600" cy="782846"/>
          </a:xfrm>
        </p:spPr>
        <p:txBody>
          <a:bodyPr/>
          <a:lstStyle/>
          <a:p>
            <a:r>
              <a:rPr lang="en-US" dirty="0"/>
              <a:t>Autoregressive (AR) Models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271C7-C2FA-706C-07B0-CF46A53AC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FCD97-3812-AD16-8959-34116ACD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1B29D8-5A8E-B4BD-4C30-DFE08D8F9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5" y="1025813"/>
            <a:ext cx="10968872" cy="556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106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C434-010A-C639-48D5-0B057698F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26" y="138415"/>
            <a:ext cx="10515600" cy="587749"/>
          </a:xfrm>
        </p:spPr>
        <p:txBody>
          <a:bodyPr>
            <a:normAutofit fontScale="90000"/>
          </a:bodyPr>
          <a:lstStyle/>
          <a:p>
            <a:r>
              <a:rPr lang="en-US" dirty="0"/>
              <a:t>VAE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8B359-3395-0A41-1EF4-2F8D6BC8D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956A4-6D84-7E0E-AFA0-ED6959E37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98AFC-13C8-892C-09E2-0A1FECBFD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36" y="905551"/>
            <a:ext cx="11129128" cy="545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72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7246-B579-AB76-8BE5-12CD238E3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9" y="18256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Normalizing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E1628-FB71-DA61-CBEA-91F8CBA97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8F480-B049-4AC0-171E-C611BF00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39E178-D700-F8A4-3C85-4480D0E98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77" y="1027906"/>
            <a:ext cx="10846323" cy="555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95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97047-A3AE-C68D-87BB-AD9C97645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214"/>
            <a:ext cx="10515600" cy="671823"/>
          </a:xfrm>
        </p:spPr>
        <p:txBody>
          <a:bodyPr>
            <a:normAutofit fontScale="90000"/>
          </a:bodyPr>
          <a:lstStyle/>
          <a:p>
            <a:r>
              <a:rPr lang="en-US" dirty="0"/>
              <a:t>GANs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946B1-6178-5064-5D0D-A323E145B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8D002-2D75-DDF0-4D3A-BCA58AD0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D52A-1A5E-204B-A157-1ED9437F8F51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4C0BC5-F1AE-C9C6-E61B-02BAF86B5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568" y="259472"/>
            <a:ext cx="9592559" cy="609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18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166</Words>
  <Application>Microsoft Macintosh PowerPoint</Application>
  <PresentationFormat>Widescreen</PresentationFormat>
  <Paragraphs>71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Ch1: Deep Generative Modeling</vt:lpstr>
      <vt:lpstr>Agenda</vt:lpstr>
      <vt:lpstr>Mathematical Setup</vt:lpstr>
      <vt:lpstr>Illustration</vt:lpstr>
      <vt:lpstr>Training of DGM</vt:lpstr>
      <vt:lpstr>Forward KL and Maximum Likelihood Estimation (MLE)</vt:lpstr>
      <vt:lpstr>Decomposing the forward KL</vt:lpstr>
      <vt:lpstr>Minimizing KL</vt:lpstr>
      <vt:lpstr>Empirical MLE via Monte Carlo</vt:lpstr>
      <vt:lpstr>Fisher Divergence (Score-Based Modeling)</vt:lpstr>
      <vt:lpstr>Beyond KL</vt:lpstr>
      <vt:lpstr>Challenges in Modeling Distributions</vt:lpstr>
      <vt:lpstr>Prominent DGMs</vt:lpstr>
      <vt:lpstr>Energy-Based Models (EBMs)</vt:lpstr>
      <vt:lpstr>Autoregressive (AR) Models </vt:lpstr>
      <vt:lpstr>VAE</vt:lpstr>
      <vt:lpstr>Normalizing flows</vt:lpstr>
      <vt:lpstr>GANs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Oualid Missaoui</dc:creator>
  <cp:lastModifiedBy>Oualid Missaoui</cp:lastModifiedBy>
  <cp:revision>4</cp:revision>
  <dcterms:created xsi:type="dcterms:W3CDTF">2025-11-04T13:33:35Z</dcterms:created>
  <dcterms:modified xsi:type="dcterms:W3CDTF">2025-11-04T15:58:12Z</dcterms:modified>
</cp:coreProperties>
</file>